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344f38e1-464d-c3ae-ffe1-a1ca8436aa1f}">
          <p14:sldIdLst>
            <p14:sldId id="256"/>
            <p14:sldId id="257"/>
          </p14:sldIdLst>
        </p14:section>
        <p14:section name="Етап 1" id="{986e7976-48bf-9e6f-f7ce-4fa31ec4e3b5}">
          <p14:sldIdLst>
            <p14:sldId id="258"/>
          </p14:sldIdLst>
        </p14:section>
        <p14:section name="Якість і Silver" id="{d9937f59-278f-e462-8beb-195b2f026abd}">
          <p14:sldIdLst>
            <p14:sldId id="259"/>
            <p14:sldId id="260"/>
          </p14:sldIdLst>
        </p14:section>
        <p14:section name="Демо" id="{1d2c2c04-573b-27a6-0e36-3ae040126b68}">
          <p14:sldIdLst>
            <p14:sldId id="261"/>
          </p14:sldIdLst>
        </p14:section>
        <p14:section name="Відповіді" id="{8772df32-be54-aad6-1ddb-a10a90122cf0}">
          <p14:sldIdLst>
            <p14:sldId id="262"/>
            <p14:sldId id="263"/>
            <p14:sldId id="264"/>
          </p14:sldIdLst>
        </p14:section>
        <p14:section name="Підсумок" id="{badf394e-a722-3ecb-0232-fc1307c6fd8d}">
          <p14:sldIdLst>
            <p14:sldId id="265"/>
          </p14:sldIdLst>
        </p14:section>
        <p14:section name="Додаток" id="{271ef30b-b50d-782e-ac15-4d4432307577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Доповідає: Назар · ≈0:30
Що сказати: Ми команда «начальніки», профіль Logistics. Переносимо TPC-H із samples.tpch у lakehouse Bronze → Silver → Gold у Databricks і відповідаємо на чотири питання логістики про терміни доставки. Робота розбита на три послідовні етапи: я відповідаю за основу і Bronze, Ярополк — за Silver і якість даних, Макс — за Gold, аналіз та інтеграцію. Кожен презентує свою частину. Код і презентація — у публічному репозиторії, посилання на слайді.
Стан на 07.10.2026: етап 1 реалізовано і запущено в Databricks; етапи 2 і 3 ще не реалізовані. Перед виступом Макс оновлює статуси на картках за фактичним станом (з доказами).
План часу (≈6:00): 1 — 0:30 · 2 — 0:20 · 3 — 0:45 · 4 — 0:40 · 5 — 0:30 · 6 (демо) — 1:00 · 7 — 0:45 · 8 — 0:30 · 9 — 0:40 · 10 — 0:20. Слайди 11–12 (додаток) не презентуються.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Доповідає: Назар · ≈0:20
Що сказати: Конвеєр має п'ять кроків. Bronze — точна копія джерела. Staging — типізована копія без жодної фільтрації. Валідація перевіряє правила і пише результати в журнал якості. Silver публікується лише якщо всі блокуючі правила пройшли. Gold будується з Silver під питання логістики. Зараз реалізовано й запущено джерело → Bronze і спільний конфіг; решта — затверджений дизайн, який реалізують Ярополк і Макс.
Перед виступом (Макс): коли кроки буде реалізовано і запущено, змініть позначки «заплановано» на «реалізовано» (пунктирна рамка → суцільна темна) і статус угорі на «Реалізовано · &lt;дата&gt;». Не змінюйте позначку без успішного запуску.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Доповідає: Назар · ≈0:45
Що сказати: Усе починається з 00_config. Три параметри — catalog, schema_prefix і source — визначають, звідки читаємо і куди пишемо, тож той самий код можна запустити в іншому workspace або з іншим префіксом. Ніде інде немає жорстко заданих назв схем чи кількостей рядків. Кожен запуск отримує новий run_id, а дочірні кроки без нього не стартують.
Bronze — це SELECT * для всіх 8 таблиць плюс дві колонки метаданих. Ноутбук сам перевіряє, що колонки, типи й кількості рядків збігаються з джерелом, і падає, якщо ні. У запуску 07.10.2026 збіглися всі 8 таблиць, наприклад lineitem — 29 999 795 рядків.
Дозволені значення ми не вгадували: порахували всі значення разом з їхньою довжиною, щоб побачити приховані пробіли, і звірили зі специфікацією TPC-H rev. 3.0.1 (розділи 4.2.2.13 і 4.2.3). Неочікуваних значень немає, тож списки — рівно задокументовані значення.
Джерела чисел: вивід запусків 01_bronze_ingest і profile_source від 07.10.2026 (serverless-job у Databricks), збережений у репозиторії; візуалізації виводу — у додатку. Портативність (запуск з іншим schema_prefix) ще не перевірено — це частина етапу 3, тому не стверджуйте, що її доведено.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Доповідає: Ярополк · ≈0:40
Що сказати: Правила взято з профілю Logistics. Дати мають бути послідовними, категорії — лише з дозволених списків, які ми отримали профілюванням, а кожен рядок має належати існуючому замовленню, і жодне замовлення не може бути без рядків. Додатково перевіряємо унікальність ключів, усі зовнішні ключі та повноту між шарами. Головний принцип: ми нічого не відкидаємо мовчки. Якщо правило не пройшло, запуск зупиняється і Silver не оновлюється, а в журналі видно, скільки порушень і які ключі. Запізнення — це не помилка даних, а саме те, що ми аналізуємо.
СТАН: це затверджений дизайн, валідацію ще не реалізовано. Статус «Заплановано» залишається, доки не буде успішного запуску.
ЩО ДОДАТИ (Ярополк): після реалізації 02_silver_stage, dq_helpers, 03_validate і 04_silver_publish — звірити формулювання груп правил з кодом (додати або прибрати правило, якщо фінальний набір інший), змінити статус на «Реалізовано · &lt;дата запуску&gt;». Правило «commit date не раніше дати замовлення» — наша інтерпретація вимоги «дати узгоджені з батьківським замовленням»; якщо воно лишиться в коді, сказати це одним реченням.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Доповідає: Ярополк · ≈0:30
Що сказати: Silver містить усі 8 таблиць TPC-H з оригінальними назвами колонок. Ми показуємо 3NF не копіюванням джерела, а перевіркою кандидатів у функціональні залежності на даних. NOT NULL і CHECK у Databricks реально блокують дані, а PK/FK лише інформаційні — це ми перевірили на тестовій таблиці, тому цілісність доводимо правилами валідації. [Далі — коротко про ER-діаграму і висновок 3NF.]
СТАН: Silver ще не реалізовано. Факт про CHECK і PK перевірено 07.10.2026 на тимчасовій тестовій таблиці, а не на Silver.
ЩО ДОДАТИ (Ярополк):
1. Великий плейсхолдер — замінити скриншотом ER-діаграми саме опублікованих Silver-таблиць (Catalog Explorer або рендер діаграми, звіреної з DESCRIBE). Не вставляти чернеткову діаграму з дизайну як результат. Підпис: джерело і дата.
2. Малий плейсхолдер — підсумок 3NF: перевірені кандидати FD (наприклад p_brand → p_mfgr), результат кожного і чи була декомпозиція.
3. Після публікації Silver змінити статус на «Реалізовано · &lt;дата&gt;».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Доповідають: Макс (кроки 1, 2, 4) і Ярополк (крок 3) · ≈1:00
Як проводити: НЕ запускайте повний конвеєр під час виступу — він займає кілька хвилин. Заздалегідь відкрийте вкладки Databricks з уже завершеним успішним запуском і з уже виконаним прикладом збою. Якщо інтернет чи workspace недоступні — показуйте скриншоти з цього слайда.
Що сказати:
1. (Макс) Ось останній запуск run_pipeline: у pipeline_runs для його run_id є started і succeeded.
2. (Макс) У dq_check_results для того самого run_id усі правила мають passed = true.
3. (Ярополк) А це підготовлений приклад: ми додали некоректний рядок (наприклад, отримання раніше відвантаження). Правило не пройшло, видно кількість порушень і ключі, запуск зупинився, Silver і Gold не змінилися.
4. (Макс) Після такого запуску 06_analysis не показує результати, бо останній запуск не succeeded.
СТАН: run_pipeline, журнали аудиту, валідацію і 06_analysis ще не реалізовано.
ЩО ДОДАТИ:
- Макс: скриншот успішного запуску (pipeline_runs + dq_check_results, з run_id і датою); скриншот відмови 06_analysis.
- Ярополк: підготовлений приклад збою (окремий schema_prefix, щоб не зіпсувати основні таблиці) і його скриншот.
- Обидва: прогнати демо з таймером; разом не більше 1:00.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Доповідає: Макс · ≈0:45
Що сказати (після заповнення): Q1 — швидкість і передбачуваність різні питання: швидкість — це медіана, тобто типова доставка, а передбачуваність — розкид, наскільки далеко хвіст p90 від медіани. Режим може мати низьку медіану, але довгий хвіст. [Назвати найшвидший і найпередбачуваніший режими з числами.] Q3 — частка рядків, отриманих пізніше commit date. [Назвати найгірший режим і його частку, з кількістю рядків.] Якщо різниця між режимами мала, так і сказати, без переінтерпретації.
СТАН: Gold і 06_analysis ще не реалізовано; чисел немає. Не вигадувати й не оцінювати числа заздалегідь.
ЩО ДОДАТИ (Макс):
1. Два скриншоти графіків з 06_analysis (графіки 1 і 3 з дизайну) з успішного запуску; підписати run_id і дату.
2. Короткі відповіді з фактичними числами, як у README «Results».
3. Рядок «Код»: залишити посилання на ноутбук і таблицю або замінити 2–3 рядками ключового SQL (percentile_cont для p50/p90; delay_rate = late / lines).
4. Визначення: transit_days = datediff(receipt, ship); рядок запізнився, якщо receipt &gt; commit (receipt у день commit — вчасно).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Доповідає: Макс · ≈0:30
Що сказати (після заповнення): Замовлення вчасне, лише коли вчасні всі його рядки, тож одне запізнення псує все замовлення. [Назвати обидві частки і різницю.] Не стверджуйте, що частка замовлень завжди менша: це залежить від того, як запізнення розподілені між замовленнями — показуйте фактичні числа. Розрив росте з кількістю рядків: [описати фактичну лінію за кількістю рядків 1–7]. Формулу p^n можна згадати лише як ілюстрацію за припущення незалежних рядків, а не як результат.
Уже перевірено (профілювання 07.10.2026): кожне замовлення має від 1 до 7 рядків, медіана 4, замовлень без рядків немає.
СТАН: Gold і 06_analysis ще не реалізовано.
ЩО ДОДАТИ (Макс):
1. Скриншот графіка 2 з 06_analysis (частки + розбивка за кількістю рядків), run_id і дата.
2. Відповідь з фактичними частками з agg_on_time_summary.
3. За бажанням — 2–3 рядки SQL визначення «повністю вчасне»: line_count ≥ 1 і late_line_count =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Доповідає: Макс · ≈0:40
Що сказати (після заповнення): Q4 — «виконано» для нас означає від дати замовлення до отримання останнього рядка. Терміновим вважається пріоритет 1-URGENT — це значення ми підтвердили профілюванням. [Порівняти urgent з рештою: n, медіана, p90, середнє; сказати, чи різниця суттєва.] Щоб показати, звідки різниця, окремо дивимося час до відвантаження і час доставки. Моніторинг: частку запізнень рахуємо за місяцем commit date, бо саме тоді настає термін обіцянки. Крайні місяці можуть бути неповними, ми їх позначаємо. [Одне речення про тренд.]
Уже перевірено (профілювання 07.10.2026): пріоритетів 5, терміновий — 1-URGENT.
СТАН: Gold, 06_analysis і моніторинг ще не реалізовано. Алерт — необов'язковий; згадувати лише якщо його зроблено.
ЩО ДОДАТИ (Макс):
1. Скриншот графіка 4 (Q4) і графіка 5 (моніторинг) з 06_analysis, run_id і дата.
2. Відповідь Q4 з числами з agg_urgency_fulfillment / agg_priority_fulfillment.
3. Одне речення про тренд, назвати крайні місяці з малою кількістю рядків за фактичними даними.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Доповідають: усі, по одному реченню · ≈0:20
Що сказати: Назар — наша перша перешкода була доступ: створення схеми в каталозі workspace спершу заборонили, і запрацювало лише після надання прав, тож тепер це вказано як передумова в README. [Ярополк і Макс — по одному реченню про свій реальний виклик.] Завершення (Макс): одне речення з головною відповіддю для логістики і посилання на репозиторій.
ЩО ДОДАТИ:
- Ярополк: один реальний виклик етапу 2 (наприклад, з валідації або 3NF), лише якщо він справді був; без вигаданих історій.
- Макс: один реальний виклик етапу 3; фінальне речення-висновок з фактичних відповідей.
- Макс: перед здачею перевірити, що репозиторій публічний і README має посилання на презентацію.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Додатковий слайд, не презентується в межах 6 хвилин — лише для запитань.
Зображення: рендер HTML-експорту запуску Databricks (jobs export-run) від 07.10.2026, обрізаний до таблиці результатів (оригінали в репозиторії: docs/slides/img/, експорт — checks/p2/outputs/). Це не скриншот живого workspace — так і казати, якщо запитають.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Додатковий слайд, не презентується в межах 6 хвилин — лише для запитань.
Зображення: рендер HTML-експорту запуску Databricks (jobs export-run) від 07.10.2026, обрізаний до таблиці результатів (оригінали в репозиторії: docs/slides/img/, експорт — checks/p2/outputs/). Це не скриншот живого workspace — так і казати, якщо запитають.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6294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«начальніки» · Logistics · TPC-H Lakehouse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adabuba/nachalniki-logistics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adabuba/nachalniki-logistics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UCU · Big Data · Group Assignment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Lakehouse на TPC-H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98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«начальніки» · профіль Logistics · Bronze → Silver → Gold у Databricks</a:t>
            </a:r>
            <a:endParaRPr lang="en-US" sz="1500" dirty="0"/>
          </a:p>
        </p:txBody>
      </p:sp>
      <p:sp>
        <p:nvSpPr>
          <p:cNvPr id="5" name="team-card-1"/>
          <p:cNvSpPr/>
          <p:nvPr/>
        </p:nvSpPr>
        <p:spPr>
          <a:xfrm>
            <a:off x="457200" y="19202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24364F"/>
          </a:solidFill>
          <a:ln w="12700">
            <a:solidFill>
              <a:srgbClr val="2436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2048256"/>
            <a:ext cx="22768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Назар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6C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Етап 1 · основа і Bronze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Репозиторій і uv, 00_config, Bronze для 8 таблиць, профілювання, дозволені значення</a:t>
            </a:r>
            <a:endParaRPr lang="en-US" sz="2000" dirty="0"/>
          </a:p>
        </p:txBody>
      </p:sp>
      <p:sp>
        <p:nvSpPr>
          <p:cNvPr id="7" name="status"/>
          <p:cNvSpPr/>
          <p:nvPr/>
        </p:nvSpPr>
        <p:spPr>
          <a:xfrm>
            <a:off x="621792" y="3611880"/>
            <a:ext cx="1828800" cy="310896"/>
          </a:xfrm>
          <a:prstGeom prst="roundRect">
            <a:avLst>
              <a:gd name="adj" fmla="val 47059"/>
            </a:avLst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Реалізовано · 07.10.2026</a:t>
            </a:r>
            <a:endParaRPr lang="en-US" sz="1000" dirty="0"/>
          </a:p>
        </p:txBody>
      </p:sp>
      <p:sp>
        <p:nvSpPr>
          <p:cNvPr id="8" name="team-card-2"/>
          <p:cNvSpPr/>
          <p:nvPr/>
        </p:nvSpPr>
        <p:spPr>
          <a:xfrm>
            <a:off x="3268980" y="19202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24364F"/>
          </a:solidFill>
          <a:ln w="12700">
            <a:solidFill>
              <a:srgbClr val="2436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33572" y="2048256"/>
            <a:ext cx="22768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Ярополк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6C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Етап 2 · Silver і якість даних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3NF, staging, валідація і dq_check_results, публікація Silver, ER-діаграма</a:t>
            </a:r>
            <a:endParaRPr lang="en-US" sz="2000" dirty="0"/>
          </a:p>
        </p:txBody>
      </p:sp>
      <p:sp>
        <p:nvSpPr>
          <p:cNvPr id="10" name="status"/>
          <p:cNvSpPr/>
          <p:nvPr/>
        </p:nvSpPr>
        <p:spPr>
          <a:xfrm>
            <a:off x="3433572" y="3611880"/>
            <a:ext cx="1828800" cy="310896"/>
          </a:xfrm>
          <a:prstGeom prst="roundRect">
            <a:avLst>
              <a:gd name="adj" fmla="val 47059"/>
            </a:avLst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Очікує реалізації</a:t>
            </a:r>
            <a:endParaRPr lang="en-US" sz="1000" dirty="0"/>
          </a:p>
        </p:txBody>
      </p:sp>
      <p:sp>
        <p:nvSpPr>
          <p:cNvPr id="11" name="team-card-3"/>
          <p:cNvSpPr/>
          <p:nvPr/>
        </p:nvSpPr>
        <p:spPr>
          <a:xfrm>
            <a:off x="6080760" y="19202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24364F"/>
          </a:solidFill>
          <a:ln w="12700">
            <a:solidFill>
              <a:srgbClr val="2436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45352" y="2048256"/>
            <a:ext cx="22768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Макс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6C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Етап 3 · Gold, аналіз, інтеграція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Gold, run_pipeline, відповіді Q1–Q4, моніторинг, фінальний README і презентація</a:t>
            </a:r>
            <a:endParaRPr lang="en-US" sz="2000" dirty="0"/>
          </a:p>
        </p:txBody>
      </p:sp>
      <p:sp>
        <p:nvSpPr>
          <p:cNvPr id="13" name="status"/>
          <p:cNvSpPr/>
          <p:nvPr/>
        </p:nvSpPr>
        <p:spPr>
          <a:xfrm>
            <a:off x="6245352" y="3611880"/>
            <a:ext cx="1828800" cy="310896"/>
          </a:xfrm>
          <a:prstGeom prst="roundRect">
            <a:avLst>
              <a:gd name="adj" fmla="val 47059"/>
            </a:avLst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Очікує реалізації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Репозиторій: </a:t>
            </a:r>
            <a:pPr indent="0" marL="0">
              <a:buNone/>
            </a:pPr>
            <a:r>
              <a:rPr lang="en-US" sz="1400" b="1" u="sng" dirty="0">
                <a:solidFill>
                  <a:srgbClr val="6CC5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github.com/Badabuba/nachalniki-logistics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629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Архітектура: від samples.tpch до Gold</a:t>
            </a:r>
            <a:endParaRPr lang="en-US" sz="2600" dirty="0"/>
          </a:p>
        </p:txBody>
      </p:sp>
      <p:sp>
        <p:nvSpPr>
          <p:cNvPr id="3" name="status"/>
          <p:cNvSpPr/>
          <p:nvPr/>
        </p:nvSpPr>
        <p:spPr>
          <a:xfrm>
            <a:off x="7178040" y="429768"/>
            <a:ext cx="1508760" cy="310896"/>
          </a:xfrm>
          <a:prstGeom prst="roundRect">
            <a:avLst>
              <a:gd name="adj" fmla="val 47059"/>
            </a:avLst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Частково реалізовано</a:t>
            </a:r>
            <a:endParaRPr lang="en-US" sz="1000" dirty="0"/>
          </a:p>
        </p:txBody>
      </p:sp>
      <p:sp>
        <p:nvSpPr>
          <p:cNvPr id="4" name="flow-Джерело"/>
          <p:cNvSpPr/>
          <p:nvPr/>
        </p:nvSpPr>
        <p:spPr>
          <a:xfrm>
            <a:off x="457200" y="1188720"/>
            <a:ext cx="1261872" cy="960120"/>
          </a:xfrm>
          <a:prstGeom prst="roundRect">
            <a:avLst>
              <a:gd name="adj" fmla="val 7619"/>
            </a:avLst>
          </a:prstGeom>
          <a:solidFill>
            <a:srgbClr val="1B2A41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5488" y="1261872"/>
            <a:ext cx="122529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</a:t>
            </a:r>
            <a:endParaRPr lang="en-US" sz="15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samples.tpch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1284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реалізовано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34617" y="1572768"/>
            <a:ext cx="100584" cy="182880"/>
          </a:xfrm>
          <a:prstGeom prst="rightArrow">
            <a:avLst/>
          </a:prstGeom>
          <a:solidFill>
            <a:srgbClr val="5B6573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8" name="flow-Bronze"/>
          <p:cNvSpPr/>
          <p:nvPr/>
        </p:nvSpPr>
        <p:spPr>
          <a:xfrm>
            <a:off x="1850746" y="1188720"/>
            <a:ext cx="1261872" cy="960120"/>
          </a:xfrm>
          <a:prstGeom prst="roundRect">
            <a:avLst>
              <a:gd name="adj" fmla="val 7619"/>
            </a:avLst>
          </a:prstGeom>
          <a:solidFill>
            <a:srgbClr val="1B2A41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69034" y="1261872"/>
            <a:ext cx="122529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5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01_bronze_ingest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850746" y="221284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реалізовано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28162" y="1572768"/>
            <a:ext cx="100584" cy="182880"/>
          </a:xfrm>
          <a:prstGeom prst="rightArrow">
            <a:avLst/>
          </a:prstGeom>
          <a:solidFill>
            <a:srgbClr val="5B6573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12" name="flow-Staging"/>
          <p:cNvSpPr/>
          <p:nvPr/>
        </p:nvSpPr>
        <p:spPr>
          <a:xfrm>
            <a:off x="3244291" y="1188720"/>
            <a:ext cx="12618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3262579" y="1261872"/>
            <a:ext cx="122529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5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02_silver_stage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244291" y="221284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заплановано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21708" y="1572768"/>
            <a:ext cx="100584" cy="182880"/>
          </a:xfrm>
          <a:prstGeom prst="rightArrow">
            <a:avLst/>
          </a:prstGeom>
          <a:solidFill>
            <a:srgbClr val="5B6573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16" name="flow-Валідація"/>
          <p:cNvSpPr/>
          <p:nvPr/>
        </p:nvSpPr>
        <p:spPr>
          <a:xfrm>
            <a:off x="4637837" y="1188720"/>
            <a:ext cx="12618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4656125" y="1261872"/>
            <a:ext cx="122529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Валідація</a:t>
            </a:r>
            <a:endParaRPr lang="en-US" sz="15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03_validate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637837" y="221284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заплановано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15254" y="1572768"/>
            <a:ext cx="100584" cy="182880"/>
          </a:xfrm>
          <a:prstGeom prst="rightArrow">
            <a:avLst/>
          </a:prstGeom>
          <a:solidFill>
            <a:srgbClr val="5B6573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20" name="flow-Silver"/>
          <p:cNvSpPr/>
          <p:nvPr/>
        </p:nvSpPr>
        <p:spPr>
          <a:xfrm>
            <a:off x="6031382" y="1188720"/>
            <a:ext cx="12618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6049670" y="1261872"/>
            <a:ext cx="122529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5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04_silver_publish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031382" y="221284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заплановано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08799" y="1572768"/>
            <a:ext cx="100584" cy="182880"/>
          </a:xfrm>
          <a:prstGeom prst="rightArrow">
            <a:avLst/>
          </a:prstGeom>
          <a:solidFill>
            <a:srgbClr val="5B6573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24" name="flow-Gold"/>
          <p:cNvSpPr/>
          <p:nvPr/>
        </p:nvSpPr>
        <p:spPr>
          <a:xfrm>
            <a:off x="7424928" y="1188720"/>
            <a:ext cx="12618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7443216" y="1261872"/>
            <a:ext cx="122529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5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05_gold_build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424928" y="221284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заплановано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2542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Аналіз: 06_analysis читає лише Gold і журнал запусків; run_pipeline виконує кроки 01–05 по черзі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0175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1089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конфіг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00_config: параметри catalog, schema_prefix, source задають усі схеми {prefix}_bronze … _audit. Реалізовано.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268980" y="30175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406140" y="31089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Ніщо не губиться мовчки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зберігає всі рядки; блокуюче порушення зупиняє публікацію Silver і Gold. Заплановано.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080760" y="30175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17920" y="31089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 лише дописується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pipeline_runs і dq_check_results фіксують кожен запуск за run_id. Заплановано.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629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Етап 1: конфіг, Bronze і профілювання</a:t>
            </a:r>
            <a:endParaRPr lang="en-US" sz="2600" dirty="0"/>
          </a:p>
        </p:txBody>
      </p:sp>
      <p:sp>
        <p:nvSpPr>
          <p:cNvPr id="3" name="status"/>
          <p:cNvSpPr/>
          <p:nvPr/>
        </p:nvSpPr>
        <p:spPr>
          <a:xfrm>
            <a:off x="7178040" y="429768"/>
            <a:ext cx="1508760" cy="310896"/>
          </a:xfrm>
          <a:prstGeom prst="roundRect">
            <a:avLst>
              <a:gd name="adj" fmla="val 47059"/>
            </a:avLst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Реалізовано · 07.10.2026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612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C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8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6420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таблиць Bronze збігаються з samples.tpch: назви, типи колонок і кількість рядків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8980" y="10972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6140" y="11612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C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06140" y="166420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колонки метаданих: _ingested_at і _source_table; решта — як у джерелі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0972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1612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C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1–7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66420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рядків на замовлення (медіана 4); замовлень без рядків — 0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423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Дозволені значення: профілювання Bronze + звірка зі специфікацією TPC-H rev. 3.0.1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81635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l_shipmode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20240" y="2816352"/>
            <a:ext cx="54864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0F7C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7C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816352"/>
            <a:ext cx="54864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0F7C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7C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0" y="2816352"/>
            <a:ext cx="64008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0F7C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7C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2816352"/>
            <a:ext cx="64008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0F7C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7C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2816352"/>
            <a:ext cx="91440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0F7C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7C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 AIR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2816352"/>
            <a:ext cx="64008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0F7C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7C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2816352"/>
            <a:ext cx="73152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0F7C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7C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TRUCK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2186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l_returnflag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920240" y="3218688"/>
            <a:ext cx="36576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0F7C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7C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77440" y="3218688"/>
            <a:ext cx="36576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0F7C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7C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34640" y="3218688"/>
            <a:ext cx="36576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0F7C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7C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62102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l_linestatus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920240" y="3621024"/>
            <a:ext cx="36576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0F7C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7C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377440" y="3621024"/>
            <a:ext cx="36576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0F7C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7C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Кожне значення і спостерігається в даних, і задокументоване; NULL і зайвих пробілів немає. Нове значення не додається мовчки — валідація впаде, рядки не відкидаються. Пріоритет «терміново» = 1-URGENT.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629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Валідація: чому даним можна вірити</a:t>
            </a:r>
            <a:endParaRPr lang="en-US" sz="2600" dirty="0"/>
          </a:p>
        </p:txBody>
      </p:sp>
      <p:sp>
        <p:nvSpPr>
          <p:cNvPr id="3" name="status"/>
          <p:cNvSpPr/>
          <p:nvPr/>
        </p:nvSpPr>
        <p:spPr>
          <a:xfrm>
            <a:off x="7178040" y="429768"/>
            <a:ext cx="1508760" cy="310896"/>
          </a:xfrm>
          <a:prstGeom prst="roundRect">
            <a:avLst>
              <a:gd name="adj" fmla="val 47059"/>
            </a:avLst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Заплановано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240280" cy="1600200"/>
          </a:xfrm>
          <a:prstGeom prst="roundRect">
            <a:avLst>
              <a:gd name="adj" fmla="val 4571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1965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Дати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відвантаження не раніше замовлення, отримання не раніше відвантаження; дати не NULL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34640" y="1097280"/>
            <a:ext cx="2240280" cy="1600200"/>
          </a:xfrm>
          <a:prstGeom prst="roundRect">
            <a:avLst>
              <a:gd name="adj" fmla="val 4571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71800" y="1188720"/>
            <a:ext cx="1965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Категорії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l_shipmode, l_returnflag, l_linestatus — лише з дозволених списків етапу 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2240280" cy="1600200"/>
          </a:xfrm>
          <a:prstGeom prst="roundRect">
            <a:avLst>
              <a:gd name="adj" fmla="val 4571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926080"/>
            <a:ext cx="1965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Зв'язки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рядок має замовлення, кожне замовлення має рядки; PK і FK через anti-join, зокрема (l_partkey, l_suppkey) → partsupp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34640" y="2834640"/>
            <a:ext cx="2240280" cy="1600200"/>
          </a:xfrm>
          <a:prstGeom prst="roundRect">
            <a:avLst>
              <a:gd name="adj" fmla="val 4571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71800" y="2926080"/>
            <a:ext cx="1965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Повнота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кількість рядків джерело = Bronze = staging; Gold без втрат і дублів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49240" y="1097280"/>
            <a:ext cx="3337560" cy="3337560"/>
          </a:xfrm>
          <a:prstGeom prst="roundRect">
            <a:avLst>
              <a:gd name="adj" fmla="val 2192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32120" y="1207008"/>
            <a:ext cx="301752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Правила роботи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правила блокуючі: одне порушення — запуск зупиняється, Silver і Gold не публікуються.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Невалідні рядки не відкидаються: кількість порушень і до 10 ключів-прикладів пишуться в dq_check_results.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6C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Запізнення (receipt &gt; commit) — валідні дані, а не помилка: саме їх ми аналізуємо.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PK/FK у Databricks інформаційні, тому цілісність доводять anti-join перевірки.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629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Silver: 8 таблиць у 3NF і ER-діаграма</a:t>
            </a:r>
            <a:endParaRPr lang="en-US" sz="2600" dirty="0"/>
          </a:p>
        </p:txBody>
      </p:sp>
      <p:sp>
        <p:nvSpPr>
          <p:cNvPr id="3" name="status"/>
          <p:cNvSpPr/>
          <p:nvPr/>
        </p:nvSpPr>
        <p:spPr>
          <a:xfrm>
            <a:off x="7178040" y="429768"/>
            <a:ext cx="1508760" cy="310896"/>
          </a:xfrm>
          <a:prstGeom prst="roundRect">
            <a:avLst>
              <a:gd name="adj" fmla="val 47059"/>
            </a:avLst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Заплановано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3017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вже відомо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Назви колонок як у TPC-H, типи — з DESCRIBE джерела.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Перевірено на тестовій таблиці 07.10.2026: CHECK блокує некоректну вставку, PRIMARY KEY дублікат не блокує.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Тому цілісність доводить валідація, а не оголошені ключі.</a:t>
            </a:r>
            <a:endParaRPr lang="en-US" sz="1400" dirty="0"/>
          </a:p>
        </p:txBody>
      </p:sp>
      <p:sp>
        <p:nvSpPr>
          <p:cNvPr id="5" name="placeholder"/>
          <p:cNvSpPr/>
          <p:nvPr/>
        </p:nvSpPr>
        <p:spPr>
          <a:xfrm>
            <a:off x="457200" y="320040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DF3E1"/>
          </a:solidFill>
          <a:ln w="15875">
            <a:solidFill>
              <a:srgbClr val="E8A33D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66928" y="3273552"/>
            <a:ext cx="27980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ЗАПОВНИТИ · Ярополк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3NF: які кандидати у функціональні залежності перевірено на даних і висновок (чи потрібна декомпозиція).</a:t>
            </a:r>
            <a:endParaRPr lang="en-US" sz="1100" dirty="0"/>
          </a:p>
        </p:txBody>
      </p:sp>
      <p:sp>
        <p:nvSpPr>
          <p:cNvPr id="7" name="placeholder"/>
          <p:cNvSpPr/>
          <p:nvPr/>
        </p:nvSpPr>
        <p:spPr>
          <a:xfrm>
            <a:off x="3703320" y="1097280"/>
            <a:ext cx="4983480" cy="3474720"/>
          </a:xfrm>
          <a:prstGeom prst="roundRect">
            <a:avLst>
              <a:gd name="adj" fmla="val 2105"/>
            </a:avLst>
          </a:prstGeom>
          <a:solidFill>
            <a:srgbClr val="FDF3E1"/>
          </a:solidFill>
          <a:ln w="15875">
            <a:solidFill>
              <a:srgbClr val="E8A33D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3813048" y="1170432"/>
            <a:ext cx="4764024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ЗАПОВНИТИ · Ярополк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 ER-діаграми опублікованих Silver-таблиць (8 таблиць, PK/FK, двоколонковий зв'язок lineitem → partsupp). Лише реальний скриншот із Databricks або рендер діаграми, звіреної з DESCRIBE опублікованих таблиць.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629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Демо: готовий запуск і збій</a:t>
            </a:r>
            <a:endParaRPr lang="en-US" sz="2600" dirty="0"/>
          </a:p>
        </p:txBody>
      </p:sp>
      <p:sp>
        <p:nvSpPr>
          <p:cNvPr id="3" name="status"/>
          <p:cNvSpPr/>
          <p:nvPr/>
        </p:nvSpPr>
        <p:spPr>
          <a:xfrm>
            <a:off x="7178040" y="429768"/>
            <a:ext cx="1508760" cy="310896"/>
          </a:xfrm>
          <a:prstGeom prst="roundRect">
            <a:avLst>
              <a:gd name="adj" fmla="val 47059"/>
            </a:avLst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Заплановано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0515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  </a:t>
            </a:r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Завершений запуск run_pipeline: рядок succeeded у pipeline_runs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457200" cy="457200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202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  </a:t>
            </a:r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dq_check_results для того ж run_id: усі правила passed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7889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  </a:t>
            </a:r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Підготовлений збій: некоректний рядок → правило не пройшло, Silver і Gold не оновлено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457200" cy="457200"/>
          </a:xfrm>
          <a:prstGeom prst="ellipse">
            <a:avLst/>
          </a:prstGeom>
          <a:solidFill>
            <a:srgbClr val="0F7C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6576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  </a:t>
            </a:r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06_analysis відмовляється показувати результати застарілого запуску</a:t>
            </a:r>
            <a:endParaRPr lang="en-US" sz="1200" dirty="0"/>
          </a:p>
        </p:txBody>
      </p:sp>
      <p:sp>
        <p:nvSpPr>
          <p:cNvPr id="12" name="placeholder"/>
          <p:cNvSpPr/>
          <p:nvPr/>
        </p:nvSpPr>
        <p:spPr>
          <a:xfrm>
            <a:off x="4114800" y="1097280"/>
            <a:ext cx="4572000" cy="1645920"/>
          </a:xfrm>
          <a:prstGeom prst="roundRect">
            <a:avLst>
              <a:gd name="adj" fmla="val 4444"/>
            </a:avLst>
          </a:prstGeom>
          <a:solidFill>
            <a:srgbClr val="FDF3E1"/>
          </a:solidFill>
          <a:ln w="15875">
            <a:solidFill>
              <a:srgbClr val="E8A33D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4224528" y="1170432"/>
            <a:ext cx="435254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ЗАПОВНИТИ · Макс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 завершеного запуску: pipeline_runs (started → succeeded) і dq_check_results цього run_id, усі passed = true.</a:t>
            </a:r>
            <a:endParaRPr lang="en-US" sz="1100" dirty="0"/>
          </a:p>
        </p:txBody>
      </p:sp>
      <p:sp>
        <p:nvSpPr>
          <p:cNvPr id="14" name="placeholder"/>
          <p:cNvSpPr/>
          <p:nvPr/>
        </p:nvSpPr>
        <p:spPr>
          <a:xfrm>
            <a:off x="4114800" y="2926080"/>
            <a:ext cx="4572000" cy="1645920"/>
          </a:xfrm>
          <a:prstGeom prst="roundRect">
            <a:avLst>
              <a:gd name="adj" fmla="val 4444"/>
            </a:avLst>
          </a:prstGeom>
          <a:solidFill>
            <a:srgbClr val="FDF3E1"/>
          </a:solidFill>
          <a:ln w="15875">
            <a:solidFill>
              <a:srgbClr val="E8A33D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4224528" y="2999232"/>
            <a:ext cx="435254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ЗАПОВНИТИ · Ярополк + Макс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 підготовленого збою: правило з passed = false, ключі-приклади, відсутній succeeded; повідомлення 06_analysis про відмову.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629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і Q3: доставка за ship mode</a:t>
            </a:r>
            <a:endParaRPr lang="en-US" sz="2600" dirty="0"/>
          </a:p>
        </p:txBody>
      </p:sp>
      <p:sp>
        <p:nvSpPr>
          <p:cNvPr id="3" name="status"/>
          <p:cNvSpPr/>
          <p:nvPr/>
        </p:nvSpPr>
        <p:spPr>
          <a:xfrm>
            <a:off x="7178040" y="429768"/>
            <a:ext cx="1508760" cy="310896"/>
          </a:xfrm>
          <a:prstGeom prst="roundRect">
            <a:avLst>
              <a:gd name="adj" fmla="val 47059"/>
            </a:avLst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Заплановано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Медіана і p90 часу доставки (ship → receipt) за ship mode. Який найшвидший, а який найпередбачуваніший?</a:t>
            </a:r>
            <a:endParaRPr lang="en-US" sz="1200" dirty="0"/>
          </a:p>
        </p:txBody>
      </p:sp>
      <p:sp>
        <p:nvSpPr>
          <p:cNvPr id="5" name="placeholder"/>
          <p:cNvSpPr/>
          <p:nvPr/>
        </p:nvSpPr>
        <p:spPr>
          <a:xfrm>
            <a:off x="457200" y="164592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DF3E1"/>
          </a:solidFill>
          <a:ln w="15875">
            <a:solidFill>
              <a:srgbClr val="E8A33D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66928" y="1719072"/>
            <a:ext cx="37581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ЗАПОВНИТИ · Макс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Графік: стовпці p50 і p90 transit_days за ship mode + таблиця розкиду (p90 − p50).</a:t>
            </a:r>
            <a:endParaRPr lang="en-US" sz="1100" dirty="0"/>
          </a:p>
        </p:txBody>
      </p:sp>
      <p:sp>
        <p:nvSpPr>
          <p:cNvPr id="7" name="placeholder"/>
          <p:cNvSpPr/>
          <p:nvPr/>
        </p:nvSpPr>
        <p:spPr>
          <a:xfrm>
            <a:off x="457200" y="3447288"/>
            <a:ext cx="3977640" cy="713232"/>
          </a:xfrm>
          <a:prstGeom prst="roundRect">
            <a:avLst>
              <a:gd name="adj" fmla="val 10256"/>
            </a:avLst>
          </a:prstGeom>
          <a:solidFill>
            <a:srgbClr val="FDF3E1"/>
          </a:solidFill>
          <a:ln w="15875">
            <a:solidFill>
              <a:srgbClr val="E8A33D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66928" y="3520440"/>
            <a:ext cx="3758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ЗАПОВНИТИ · Макс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Відповідь: найшвидший = найменша медіана; найпередбачуваніший = найменший p90 − p50.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2336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Код: </a:t>
            </a:r>
            <a:pPr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06_analysis · agg_ship_mode_performance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102412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Яка частка рядків отримана після commit date для кожного ship mode? Який найгірший?</a:t>
            </a:r>
            <a:endParaRPr lang="en-US" sz="1200" dirty="0"/>
          </a:p>
        </p:txBody>
      </p:sp>
      <p:sp>
        <p:nvSpPr>
          <p:cNvPr id="11" name="placeholder"/>
          <p:cNvSpPr/>
          <p:nvPr/>
        </p:nvSpPr>
        <p:spPr>
          <a:xfrm>
            <a:off x="4709160" y="164592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DF3E1"/>
          </a:solidFill>
          <a:ln w="15875">
            <a:solidFill>
              <a:srgbClr val="E8A33D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4818888" y="1719072"/>
            <a:ext cx="37581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ЗАПОВНИТИ · Макс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Графік: стовпці delay_rate за ship mode з кількістю рядків.</a:t>
            </a:r>
            <a:endParaRPr lang="en-US" sz="1100" dirty="0"/>
          </a:p>
        </p:txBody>
      </p:sp>
      <p:sp>
        <p:nvSpPr>
          <p:cNvPr id="13" name="placeholder"/>
          <p:cNvSpPr/>
          <p:nvPr/>
        </p:nvSpPr>
        <p:spPr>
          <a:xfrm>
            <a:off x="4709160" y="3447288"/>
            <a:ext cx="3977640" cy="713232"/>
          </a:xfrm>
          <a:prstGeom prst="roundRect">
            <a:avLst>
              <a:gd name="adj" fmla="val 10256"/>
            </a:avLst>
          </a:prstGeom>
          <a:solidFill>
            <a:srgbClr val="FDF3E1"/>
          </a:solidFill>
          <a:ln w="15875">
            <a:solidFill>
              <a:srgbClr val="E8A33D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4818888" y="3520440"/>
            <a:ext cx="3758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ЗАПОВНИТИ · Макс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Відповідь: ship mode з найбільшою часткою запізнень і її значення.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42336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Код: </a:t>
            </a:r>
            <a:pPr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06_analysis · agg_ship_mode_performance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629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Q2: замовлення проти рядків</a:t>
            </a:r>
            <a:endParaRPr lang="en-US" sz="2600" dirty="0"/>
          </a:p>
        </p:txBody>
      </p:sp>
      <p:sp>
        <p:nvSpPr>
          <p:cNvPr id="3" name="status"/>
          <p:cNvSpPr/>
          <p:nvPr/>
        </p:nvSpPr>
        <p:spPr>
          <a:xfrm>
            <a:off x="7178040" y="429768"/>
            <a:ext cx="1508760" cy="310896"/>
          </a:xfrm>
          <a:prstGeom prst="roundRect">
            <a:avLst>
              <a:gd name="adj" fmla="val 47059"/>
            </a:avLst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Заплановано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Замовлення повністю вчасне, лише якщо всі його рядки прибули до commit date. Яка частка таких замовлень і як вона відрізняється від частки вчасних рядків?</a:t>
            </a:r>
            <a:endParaRPr lang="en-US" sz="1200" dirty="0"/>
          </a:p>
        </p:txBody>
      </p:sp>
      <p:sp>
        <p:nvSpPr>
          <p:cNvPr id="5" name="placeholder"/>
          <p:cNvSpPr/>
          <p:nvPr/>
        </p:nvSpPr>
        <p:spPr>
          <a:xfrm>
            <a:off x="457200" y="1691640"/>
            <a:ext cx="4937760" cy="2514600"/>
          </a:xfrm>
          <a:prstGeom prst="roundRect">
            <a:avLst>
              <a:gd name="adj" fmla="val 2909"/>
            </a:avLst>
          </a:prstGeom>
          <a:solidFill>
            <a:srgbClr val="FDF3E1"/>
          </a:solidFill>
          <a:ln w="15875">
            <a:solidFill>
              <a:srgbClr val="E8A33D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66928" y="1764792"/>
            <a:ext cx="4718304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ЗАПОВНИТИ · Макс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Графіки: (1) стовпці — частка вчасних рядків і частка повністю вчасних замовлень; (2) лінія — частка вчасних замовлень за кількістю рядків у замовленні (1–7).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23560" y="1691640"/>
            <a:ext cx="3063240" cy="1188720"/>
          </a:xfrm>
          <a:prstGeom prst="roundRect">
            <a:avLst>
              <a:gd name="adj" fmla="val 615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0" y="1755648"/>
            <a:ext cx="2788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F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є розрив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Одне запізнення робить невчасним усе замовлення, тож що більше рядків, то менший шанс бути повністю вчасним. У даних 1–7 рядків на замовлення (медіана 4).</a:t>
            </a:r>
            <a:endParaRPr lang="en-US" sz="1300" dirty="0"/>
          </a:p>
        </p:txBody>
      </p:sp>
      <p:sp>
        <p:nvSpPr>
          <p:cNvPr id="9" name="placeholder"/>
          <p:cNvSpPr/>
          <p:nvPr/>
        </p:nvSpPr>
        <p:spPr>
          <a:xfrm>
            <a:off x="5623560" y="3017520"/>
            <a:ext cx="3063240" cy="1188720"/>
          </a:xfrm>
          <a:prstGeom prst="roundRect">
            <a:avLst>
              <a:gd name="adj" fmla="val 6154"/>
            </a:avLst>
          </a:prstGeom>
          <a:solidFill>
            <a:srgbClr val="FDF3E1"/>
          </a:solidFill>
          <a:ln w="15875">
            <a:solidFill>
              <a:srgbClr val="E8A33D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5733288" y="3090672"/>
            <a:ext cx="284378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ЗАПОВНИТИ · Макс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Відповідь: частка вчасних замовлень, частка вчасних рядків і різниця.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Код: </a:t>
            </a:r>
            <a:pPr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06_analysis · agg_on_time_summary, agg_on_time_by_line_count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629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 і моніторинг запізнень</a:t>
            </a:r>
            <a:endParaRPr lang="en-US" sz="2600" dirty="0"/>
          </a:p>
        </p:txBody>
      </p:sp>
      <p:sp>
        <p:nvSpPr>
          <p:cNvPr id="3" name="status"/>
          <p:cNvSpPr/>
          <p:nvPr/>
        </p:nvSpPr>
        <p:spPr>
          <a:xfrm>
            <a:off x="7178040" y="429768"/>
            <a:ext cx="1508760" cy="310896"/>
          </a:xfrm>
          <a:prstGeom prst="roundRect">
            <a:avLst>
              <a:gd name="adj" fmla="val 47059"/>
            </a:avLst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Заплановано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Чи виконуються замовлення з пріоритетом 1-URGENT швидше за інші? Підтвердити числами.</a:t>
            </a:r>
            <a:endParaRPr lang="en-US" sz="1200" dirty="0"/>
          </a:p>
        </p:txBody>
      </p:sp>
      <p:sp>
        <p:nvSpPr>
          <p:cNvPr id="5" name="placeholder"/>
          <p:cNvSpPr/>
          <p:nvPr/>
        </p:nvSpPr>
        <p:spPr>
          <a:xfrm>
            <a:off x="457200" y="164592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DF3E1"/>
          </a:solidFill>
          <a:ln w="15875">
            <a:solidFill>
              <a:srgbClr val="E8A33D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66928" y="1719072"/>
            <a:ext cx="37581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ЗАПОВНИТИ · Макс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Графік: медіана і p90 order_to_complete_days за пріоритетом, 1-URGENT виділено + таблиця n, медіана, p90, середнє.</a:t>
            </a:r>
            <a:endParaRPr lang="en-US" sz="1100" dirty="0"/>
          </a:p>
        </p:txBody>
      </p:sp>
      <p:sp>
        <p:nvSpPr>
          <p:cNvPr id="7" name="placeholder"/>
          <p:cNvSpPr/>
          <p:nvPr/>
        </p:nvSpPr>
        <p:spPr>
          <a:xfrm>
            <a:off x="457200" y="3447288"/>
            <a:ext cx="3977640" cy="713232"/>
          </a:xfrm>
          <a:prstGeom prst="roundRect">
            <a:avLst>
              <a:gd name="adj" fmla="val 10256"/>
            </a:avLst>
          </a:prstGeom>
          <a:solidFill>
            <a:srgbClr val="FDF3E1"/>
          </a:solidFill>
          <a:ln w="15875">
            <a:solidFill>
              <a:srgbClr val="E8A33D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66928" y="3520440"/>
            <a:ext cx="3758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ЗАПОВНИТИ · Макс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Відповідь: так / ні / різниця несуттєва — з числами для urgent і решти.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2336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Код: </a:t>
            </a:r>
            <a:pPr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06_analysis · agg_urgency_fulfillment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102412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Моніторинг. Частка рядків, отриманих після commit date, за місяцями (commit month).</a:t>
            </a:r>
            <a:endParaRPr lang="en-US" sz="1200" dirty="0"/>
          </a:p>
        </p:txBody>
      </p:sp>
      <p:sp>
        <p:nvSpPr>
          <p:cNvPr id="11" name="placeholder"/>
          <p:cNvSpPr/>
          <p:nvPr/>
        </p:nvSpPr>
        <p:spPr>
          <a:xfrm>
            <a:off x="4709160" y="164592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DF3E1"/>
          </a:solidFill>
          <a:ln w="15875">
            <a:solidFill>
              <a:srgbClr val="E8A33D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4818888" y="1719072"/>
            <a:ext cx="37581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ЗАПОВНИТИ · Макс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Графік: лінія delay_rate за місяцями з line_count; крайні місяці позначені як потенційно неповні.</a:t>
            </a:r>
            <a:endParaRPr lang="en-US" sz="1100" dirty="0"/>
          </a:p>
        </p:txBody>
      </p:sp>
      <p:sp>
        <p:nvSpPr>
          <p:cNvPr id="13" name="placeholder"/>
          <p:cNvSpPr/>
          <p:nvPr/>
        </p:nvSpPr>
        <p:spPr>
          <a:xfrm>
            <a:off x="4709160" y="3447288"/>
            <a:ext cx="3977640" cy="713232"/>
          </a:xfrm>
          <a:prstGeom prst="roundRect">
            <a:avLst>
              <a:gd name="adj" fmla="val 10256"/>
            </a:avLst>
          </a:prstGeom>
          <a:solidFill>
            <a:srgbClr val="FDF3E1"/>
          </a:solidFill>
          <a:ln w="15875">
            <a:solidFill>
              <a:srgbClr val="E8A33D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4818888" y="3520440"/>
            <a:ext cx="3758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ЗАПОВНИТИ · Макс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Спостереження: стабільність тренду і помітні відхилення (з даних).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42336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Код: </a:t>
            </a:r>
            <a:pPr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06_analysis · agg_delay_rate_monthly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Виклики і підсумок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24364F"/>
          </a:solidFill>
          <a:ln w="12700">
            <a:solidFill>
              <a:srgbClr val="2436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2588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Назар · доступ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Перша спроба CREATE SCHEMA у каталозі workspace завершилась PERMISSION_DENIED. Після надання прав перевірки пройшли; право CREATE SCHEMA тепер — передумова в README.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68980" y="118872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24364F"/>
          </a:solidFill>
          <a:ln w="15875">
            <a:solidFill>
              <a:srgbClr val="E8A33D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3433572" y="132588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ЗАПОВНИТИ · Ярополк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Реальний виклик етапу і як його вирішили (1–2 речення).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80760" y="118872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24364F"/>
          </a:solidFill>
          <a:ln w="15875">
            <a:solidFill>
              <a:srgbClr val="E8A33D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6245352" y="132588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ЗАПОВНИТИ · Макс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Реальний виклик етапу і як його вирішили (1–2 речення).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Репозиторій: </a:t>
            </a:r>
            <a:pPr indent="0" marL="0">
              <a:buNone/>
            </a:pPr>
            <a:r>
              <a:rPr lang="en-US" sz="1400" b="1" u="sng" dirty="0">
                <a:solidFill>
                  <a:srgbClr val="6CC5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github.com/Badabuba/nachalniki-logistics</a:t>
            </a:r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код, README і ця презентація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629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Додаток: перевірка Bronze</a:t>
            </a:r>
            <a:endParaRPr lang="en-US" sz="2600" dirty="0"/>
          </a:p>
        </p:txBody>
      </p:sp>
      <p:sp>
        <p:nvSpPr>
          <p:cNvPr id="3" name="status"/>
          <p:cNvSpPr/>
          <p:nvPr/>
        </p:nvSpPr>
        <p:spPr>
          <a:xfrm>
            <a:off x="7178040" y="429768"/>
            <a:ext cx="1508760" cy="310896"/>
          </a:xfrm>
          <a:prstGeom prst="roundRect">
            <a:avLst>
              <a:gd name="adj" fmla="val 47059"/>
            </a:avLst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Реалізовано · 07.10.2026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01_bronze_ingest: кожна таблиця Bronze порівняна з samples.tpch</a:t>
            </a:r>
            <a:endParaRPr lang="en-US" sz="1300" dirty="0"/>
          </a:p>
        </p:txBody>
      </p:sp>
      <p:pic>
        <p:nvPicPr>
          <p:cNvPr id="5" name="Image 0" descr="Таблиця перевірки Bronze: 8 таблиць, ok = true">    </p:cNvPr>
          <p:cNvPicPr>
            <a:picLocks noChangeAspect="1"/>
          </p:cNvPicPr>
          <p:nvPr/>
        </p:nvPicPr>
        <p:blipFill>
          <a:blip r:embed="rId1"/>
          <a:srcRect l="0" r="19126" t="0" b="0"/>
          <a:stretch/>
        </p:blipFill>
        <p:spPr>
          <a:xfrm>
            <a:off x="457200" y="1417320"/>
            <a:ext cx="8229600" cy="20017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556275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Рендер збереженого експорту запуску Databricks (jobs export-run) від 07.10.2026, обрізаний до таблиці результатів. Не знімок живого робочого простору.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629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Додаток: профілювання категорій</a:t>
            </a:r>
            <a:endParaRPr lang="en-US" sz="2600" dirty="0"/>
          </a:p>
        </p:txBody>
      </p:sp>
      <p:sp>
        <p:nvSpPr>
          <p:cNvPr id="3" name="status"/>
          <p:cNvSpPr/>
          <p:nvPr/>
        </p:nvSpPr>
        <p:spPr>
          <a:xfrm>
            <a:off x="7178040" y="429768"/>
            <a:ext cx="1508760" cy="310896"/>
          </a:xfrm>
          <a:prstGeom prst="roundRect">
            <a:avLst>
              <a:gd name="adj" fmla="val 47059"/>
            </a:avLst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Реалізовано · 07.10.2026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profile_source: значення, довжина і кількість рядків</a:t>
            </a:r>
            <a:endParaRPr lang="en-US" sz="1300" dirty="0"/>
          </a:p>
        </p:txBody>
      </p:sp>
      <p:pic>
        <p:nvPicPr>
          <p:cNvPr id="5" name="Image 0" descr="Значення l_linestatus, l_returnflag, l_shipmode з кількістю рядків">    </p:cNvPr>
          <p:cNvPicPr>
            <a:picLocks noChangeAspect="1"/>
          </p:cNvPicPr>
          <p:nvPr/>
        </p:nvPicPr>
        <p:blipFill>
          <a:blip r:embed="rId1"/>
          <a:srcRect l="0" r="30055" t="0" b="0"/>
          <a:stretch/>
        </p:blipFill>
        <p:spPr>
          <a:xfrm>
            <a:off x="457200" y="1417320"/>
            <a:ext cx="4853687" cy="3200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585207" y="1417320"/>
            <a:ext cx="310159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Рендер збереженого експорту запуску Databricks (jobs export-run) від 07.10.2026, обрізаний до таблиці результатів. Не знімок живого робочого простору.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achalniki Logistics">
      <a:dk1>
        <a:srgbClr val="1B2A41"/>
      </a:dk1>
      <a:lt1>
        <a:srgbClr val="FFFFFF"/>
      </a:lt1>
      <a:dk2>
        <a:srgbClr val="24364F"/>
      </a:dk2>
      <a:lt2>
        <a:srgbClr val="F3F5F7"/>
      </a:lt2>
      <a:accent1>
        <a:srgbClr val="0F7C80"/>
      </a:accent1>
      <a:accent2>
        <a:srgbClr val="E8A33D"/>
      </a:accent2>
      <a:accent3>
        <a:srgbClr val="2E7D4F"/>
      </a:accent3>
      <a:accent4>
        <a:srgbClr val="8A5A12"/>
      </a:accent4>
      <a:accent5>
        <a:srgbClr val="5B6573"/>
      </a:accent5>
      <a:accent6>
        <a:srgbClr val="6CC5C9"/>
      </a:accent6>
      <a:hlink>
        <a:srgbClr val="0F7C80"/>
      </a:hlink>
      <a:folHlink>
        <a:srgbClr val="5B6573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Logistics Lakehouse — «начальніки»</dc:title>
  <dc:subject>PptxGenJS Presentation</dc:subject>
  <dc:creator>Команда «начальніки»</dc:creator>
  <cp:lastModifiedBy>Команда «начальніки»</cp:lastModifiedBy>
  <cp:revision>1</cp:revision>
  <dcterms:created xsi:type="dcterms:W3CDTF">2026-10-07T15:02:16Z</dcterms:created>
  <dcterms:modified xsi:type="dcterms:W3CDTF">2026-10-07T15:02:16Z</dcterms:modified>
</cp:coreProperties>
</file>